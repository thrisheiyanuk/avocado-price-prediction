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311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57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84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3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11/10/2024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50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11/10/2024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0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40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56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48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8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208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11/10/2024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8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4C0C11B-582D-4BD6-AFEF-ED15AAF16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3999" cy="22832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3E8EE-F45A-1A87-32B8-29AB0C66E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3" y="397275"/>
            <a:ext cx="8476567" cy="1638259"/>
          </a:xfrm>
        </p:spPr>
        <p:txBody>
          <a:bodyPr anchor="ctr">
            <a:noAutofit/>
          </a:bodyPr>
          <a:lstStyle/>
          <a:p>
            <a:pPr algn="ctr" fontAlgn="base">
              <a:spcBef>
                <a:spcPts val="1050"/>
              </a:spcBef>
            </a:pPr>
            <a:r>
              <a:rPr lang="en-US" sz="4000" b="0" i="0" dirty="0">
                <a:solidFill>
                  <a:schemeClr val="bg2">
                    <a:lumMod val="9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Avocado Price Prediction using Machine Learning</a:t>
            </a:r>
            <a:endParaRPr lang="en-IN" sz="4000" dirty="0">
              <a:solidFill>
                <a:schemeClr val="bg2">
                  <a:lumMod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6109D-260F-25B1-B577-B2FDBF4AB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3998" y="397274"/>
            <a:ext cx="3047982" cy="3738497"/>
          </a:xfrm>
        </p:spPr>
        <p:txBody>
          <a:bodyPr anchor="ctr">
            <a:normAutofit/>
          </a:bodyPr>
          <a:lstStyle/>
          <a:p>
            <a:pPr algn="l" fontAlgn="base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400" b="1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Authors: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 </a:t>
            </a:r>
          </a:p>
          <a:p>
            <a:pPr algn="l" fontAlgn="base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Sathish K </a:t>
            </a:r>
          </a:p>
          <a:p>
            <a:pPr algn="l" fontAlgn="base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400" dirty="0" err="1">
                <a:solidFill>
                  <a:srgbClr val="000000"/>
                </a:solidFill>
                <a:latin typeface="Poppins" panose="00000500000000000000" pitchFamily="2" charset="0"/>
              </a:rPr>
              <a:t>Sudharsanan</a:t>
            </a:r>
            <a:r>
              <a:rPr lang="en-IN" sz="1400" dirty="0">
                <a:solidFill>
                  <a:srgbClr val="000000"/>
                </a:solidFill>
                <a:latin typeface="Poppins" panose="00000500000000000000" pitchFamily="2" charset="0"/>
              </a:rPr>
              <a:t> G</a:t>
            </a:r>
          </a:p>
          <a:p>
            <a:pPr algn="l" fontAlgn="base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S</a:t>
            </a:r>
            <a:r>
              <a:rPr lang="en-IN" sz="1400" dirty="0">
                <a:solidFill>
                  <a:srgbClr val="000000"/>
                </a:solidFill>
                <a:latin typeface="Poppins" panose="00000500000000000000" pitchFamily="2" charset="0"/>
              </a:rPr>
              <a:t>ai Srinivasan M</a:t>
            </a:r>
          </a:p>
          <a:p>
            <a:pPr algn="l" fontAlgn="base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400" dirty="0" err="1">
                <a:solidFill>
                  <a:srgbClr val="000000"/>
                </a:solidFill>
                <a:latin typeface="Poppins" panose="00000500000000000000" pitchFamily="2" charset="0"/>
              </a:rPr>
              <a:t>Thrisheiyan</a:t>
            </a:r>
            <a:r>
              <a:rPr lang="en-IN" sz="1400" dirty="0">
                <a:solidFill>
                  <a:srgbClr val="000000"/>
                </a:solidFill>
                <a:latin typeface="Poppins" panose="00000500000000000000" pitchFamily="2" charset="0"/>
              </a:rPr>
              <a:t> U K</a:t>
            </a:r>
          </a:p>
          <a:p>
            <a:pPr algn="l" fontAlgn="base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400" dirty="0" err="1">
                <a:solidFill>
                  <a:srgbClr val="000000"/>
                </a:solidFill>
                <a:latin typeface="Poppins" panose="00000500000000000000" pitchFamily="2" charset="0"/>
              </a:rPr>
              <a:t>Utkrisht</a:t>
            </a:r>
            <a:r>
              <a:rPr lang="en-IN" sz="1400" dirty="0">
                <a:solidFill>
                  <a:srgbClr val="000000"/>
                </a:solidFill>
                <a:latin typeface="Poppins" panose="00000500000000000000" pitchFamily="2" charset="0"/>
              </a:rPr>
              <a:t> Arya</a:t>
            </a:r>
          </a:p>
          <a:p>
            <a:pPr algn="l" fontAlgn="base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1400" dirty="0">
              <a:solidFill>
                <a:srgbClr val="000000"/>
              </a:solidFill>
              <a:latin typeface="Poppins" panose="00000500000000000000" pitchFamily="2" charset="0"/>
            </a:endParaRPr>
          </a:p>
          <a:p>
            <a:pPr algn="l" fontAlgn="base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1400" b="0" i="0" dirty="0">
              <a:solidFill>
                <a:srgbClr val="000000"/>
              </a:solidFill>
              <a:effectLst/>
              <a:latin typeface="Poppins" panose="00000500000000000000" pitchFamily="2" charset="0"/>
            </a:endParaRPr>
          </a:p>
          <a:p>
            <a:br>
              <a:rPr lang="en-IN" sz="1400" dirty="0"/>
            </a:br>
            <a:endParaRPr lang="en-IN" sz="1800" dirty="0"/>
          </a:p>
        </p:txBody>
      </p:sp>
      <p:pic>
        <p:nvPicPr>
          <p:cNvPr id="15" name="Picture 14" descr="Colorful paint pigments">
            <a:extLst>
              <a:ext uri="{FF2B5EF4-FFF2-40B4-BE49-F238E27FC236}">
                <a16:creationId xmlns:a16="http://schemas.microsoft.com/office/drawing/2014/main" id="{C83BE663-0E3A-8693-1780-A4A4663577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951"/>
          <a:stretch/>
        </p:blipFill>
        <p:spPr>
          <a:xfrm>
            <a:off x="20" y="2283223"/>
            <a:ext cx="9143978" cy="457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46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1F42-9C05-7679-7B2C-94839BAF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0"/>
            <a:ext cx="10869248" cy="1687513"/>
          </a:xfrm>
        </p:spPr>
        <p:txBody>
          <a:bodyPr>
            <a:normAutofit/>
          </a:bodyPr>
          <a:lstStyle/>
          <a:p>
            <a:pPr algn="ctr"/>
            <a:r>
              <a:rPr lang="en-IN" b="1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 </a:t>
            </a:r>
            <a:r>
              <a:rPr lang="en-IN" b="1" i="0" dirty="0">
                <a:solidFill>
                  <a:schemeClr val="bg2">
                    <a:lumMod val="9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A2D9B-F88D-B301-06A5-17DF59116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</a:t>
            </a:r>
          </a:p>
          <a:p>
            <a:r>
              <a:rPr lang="en-US" dirty="0"/>
              <a:t> The goal is to create an accurate predictive model for avocado prices, helping stakeholders anticipate price fluctuations.</a:t>
            </a:r>
          </a:p>
          <a:p>
            <a:endParaRPr lang="en-US" dirty="0"/>
          </a:p>
          <a:p>
            <a:r>
              <a:rPr lang="en-US" b="1" dirty="0"/>
              <a:t>Importance:</a:t>
            </a:r>
            <a:r>
              <a:rPr lang="en-US" dirty="0"/>
              <a:t>  </a:t>
            </a:r>
          </a:p>
          <a:p>
            <a:r>
              <a:rPr lang="en-US" dirty="0"/>
              <a:t>Reliable price forecasting aids in understanding market trends, enabling avocado producers and retailers to make informed business decisions and optimize inventory and pricing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7574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501D5-4C06-420D-E332-20D7EF47D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218113"/>
            <a:ext cx="10869248" cy="1549300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</a:br>
            <a:r>
              <a:rPr lang="en-IN" b="1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8FD56-7ED0-A4AD-28D8-AEDEC8114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3"/>
            <a:ext cx="11318758" cy="4063374"/>
          </a:xfrm>
        </p:spPr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Description: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 Dataset is taken from Kaggle website which data has around 18k  observations of 14 columns . </a:t>
            </a:r>
          </a:p>
          <a:p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</a:rPr>
              <a:t>Various variables present in dataset such as Date, </a:t>
            </a:r>
            <a:r>
              <a:rPr lang="en-US" dirty="0" err="1">
                <a:solidFill>
                  <a:srgbClr val="000000"/>
                </a:solidFill>
                <a:latin typeface="Poppins" panose="00000500000000000000" pitchFamily="2" charset="0"/>
              </a:rPr>
              <a:t>AveragePrice</a:t>
            </a:r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</a:rPr>
              <a:t> , Total volume , Total Bags , Year , Type .</a:t>
            </a:r>
          </a:p>
          <a:p>
            <a:r>
              <a:rPr lang="en-US" b="1" dirty="0"/>
              <a:t>Features:  </a:t>
            </a:r>
            <a:r>
              <a:rPr lang="en-US" dirty="0"/>
              <a:t>Date ,Total Volume, Total Bags  , Small Bags ,Large Bags,  </a:t>
            </a:r>
            <a:r>
              <a:rPr lang="en-US" dirty="0" err="1"/>
              <a:t>XLarge</a:t>
            </a:r>
            <a:r>
              <a:rPr lang="en-US" dirty="0"/>
              <a:t> Bags , type ,  year ,  region.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7740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8DDAA74B-8E81-4F15-BC0F-4050965FF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4CD4C6-F07B-411C-876A-727559731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083644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F14C7-805E-F6B3-12D6-68DEE98CD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507" y="-365124"/>
            <a:ext cx="5022630" cy="2430030"/>
          </a:xfrm>
        </p:spPr>
        <p:txBody>
          <a:bodyPr>
            <a:normAutofit/>
          </a:bodyPr>
          <a:lstStyle/>
          <a:p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71D59A3-512F-9C6A-2894-518CE9880E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72" r="1" b="1"/>
          <a:stretch/>
        </p:blipFill>
        <p:spPr>
          <a:xfrm>
            <a:off x="6083644" y="1"/>
            <a:ext cx="6108356" cy="3429000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59EDE12-AB8F-0CB1-FF7A-27F63FC8F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8924" y="3537185"/>
            <a:ext cx="3685796" cy="2955690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BD78476-9F25-4FD5-F8B0-3DAAC1AF69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37" r="1" b="1"/>
          <a:stretch/>
        </p:blipFill>
        <p:spPr>
          <a:xfrm>
            <a:off x="6083644" y="3429000"/>
            <a:ext cx="6108356" cy="343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84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CD84B-BD6D-D5BF-01FD-2187A2505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88956"/>
            <a:ext cx="10869248" cy="1687513"/>
          </a:xfrm>
        </p:spPr>
        <p:txBody>
          <a:bodyPr/>
          <a:lstStyle/>
          <a:p>
            <a:pPr algn="ctr"/>
            <a:r>
              <a:rPr lang="en-IN" b="0" i="0" dirty="0">
                <a:solidFill>
                  <a:schemeClr val="bg2">
                    <a:lumMod val="9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</a:t>
            </a:r>
            <a:endParaRPr lang="en-IN" dirty="0">
              <a:solidFill>
                <a:schemeClr val="bg2">
                  <a:lumMod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D8190-E89E-B247-3C93-0A76DB880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spcBef>
                <a:spcPts val="1050"/>
              </a:spcBef>
            </a:pPr>
            <a:r>
              <a:rPr lang="en-IN" b="1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Models:</a:t>
            </a:r>
            <a:endParaRPr lang="en-IN" b="0" i="0" dirty="0">
              <a:solidFill>
                <a:srgbClr val="000000"/>
              </a:solidFill>
              <a:effectLst/>
              <a:latin typeface="Poppins" panose="00000500000000000000" pitchFamily="2" charset="0"/>
            </a:endParaRPr>
          </a:p>
          <a:p>
            <a:pPr marL="742950" lvl="1" indent="-28575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Linear Regression - </a:t>
            </a:r>
            <a:r>
              <a:rPr lang="en-US" dirty="0"/>
              <a:t>establish a baseline for understanding the relationship between features</a:t>
            </a:r>
          </a:p>
          <a:p>
            <a:pPr marL="457200" lvl="1" fontAlgn="base">
              <a:spcBef>
                <a:spcPts val="600"/>
              </a:spcBef>
              <a:spcAft>
                <a:spcPts val="600"/>
              </a:spcAft>
            </a:pPr>
            <a:endParaRPr lang="en-IN" b="0" i="0" dirty="0">
              <a:solidFill>
                <a:srgbClr val="000000"/>
              </a:solidFill>
              <a:effectLst/>
              <a:latin typeface="Poppins" panose="00000500000000000000" pitchFamily="2" charset="0"/>
            </a:endParaRPr>
          </a:p>
          <a:p>
            <a:pPr marL="742950" lvl="1" indent="-285750" fontAlgn="base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Decision Tree Regression – </a:t>
            </a:r>
            <a:r>
              <a:rPr lang="en-US" dirty="0"/>
              <a:t>flexible, non-linear models that can capture complex relationships between features and price</a:t>
            </a:r>
          </a:p>
          <a:p>
            <a:pPr marL="457200" lvl="1" fontAlgn="base">
              <a:spcBef>
                <a:spcPts val="300"/>
              </a:spcBef>
              <a:spcAft>
                <a:spcPts val="600"/>
              </a:spcAft>
            </a:pPr>
            <a:endParaRPr lang="en-IN" b="0" i="0" dirty="0">
              <a:solidFill>
                <a:srgbClr val="000000"/>
              </a:solidFill>
              <a:effectLst/>
              <a:latin typeface="Poppins" panose="00000500000000000000" pitchFamily="2" charset="0"/>
            </a:endParaRPr>
          </a:p>
          <a:p>
            <a:pPr marL="742950" lvl="1" indent="-285750" fontAlgn="base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Random Forest Regressor - </a:t>
            </a:r>
            <a:r>
              <a:rPr lang="en-US" dirty="0"/>
              <a:t>multiple trees to reduce overfitting and improve accuracy.</a:t>
            </a:r>
            <a:endParaRPr lang="en-IN" b="0" i="0" dirty="0">
              <a:solidFill>
                <a:srgbClr val="000000"/>
              </a:solidFill>
              <a:effectLst/>
              <a:latin typeface="Poppins" panose="00000500000000000000" pitchFamily="2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6326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46F3-A145-EF27-8BEA-F02D5D94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i="0" dirty="0">
                <a:solidFill>
                  <a:schemeClr val="bg2">
                    <a:lumMod val="9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  <a:br>
              <a:rPr lang="en-IN" b="1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FF1D5-DA93-FB3B-3AC7-8D364E29D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Linear Regression:</a:t>
            </a:r>
          </a:p>
          <a:p>
            <a:pPr algn="l" fontAlgn="base">
              <a:spcBef>
                <a:spcPts val="1050"/>
              </a:spcBef>
            </a:pPr>
            <a:r>
              <a:rPr lang="en-US" b="1" dirty="0">
                <a:solidFill>
                  <a:srgbClr val="000000"/>
                </a:solidFill>
                <a:latin typeface="Poppins" panose="00000500000000000000" pitchFamily="2" charset="0"/>
              </a:rPr>
              <a:t>             </a:t>
            </a:r>
            <a:r>
              <a:rPr lang="en-US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Accuracy Score : 0.6217330509756727</a:t>
            </a:r>
          </a:p>
          <a:p>
            <a:pPr algn="l" fontAlgn="base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Decision Tree Regression:</a:t>
            </a:r>
            <a:endParaRPr lang="en-US" b="0" i="0" dirty="0">
              <a:solidFill>
                <a:srgbClr val="000000"/>
              </a:solidFill>
              <a:effectLst/>
              <a:latin typeface="Poppins" panose="00000500000000000000" pitchFamily="2" charset="0"/>
            </a:endParaRPr>
          </a:p>
          <a:p>
            <a:pPr marL="742950" lvl="1" indent="-28575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Accuracy Score : 0.7421516896228717</a:t>
            </a:r>
          </a:p>
          <a:p>
            <a:pPr algn="l" fontAlgn="base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Random Forest Regressor:</a:t>
            </a:r>
            <a:endParaRPr lang="en-US" b="0" i="0" dirty="0">
              <a:solidFill>
                <a:srgbClr val="000000"/>
              </a:solidFill>
              <a:effectLst/>
              <a:latin typeface="Poppins" panose="00000500000000000000" pitchFamily="2" charset="0"/>
            </a:endParaRPr>
          </a:p>
          <a:p>
            <a:pPr marL="742950" lvl="1" indent="-28575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Accuracy Score : 0.879855700263251</a:t>
            </a:r>
          </a:p>
          <a:p>
            <a:endParaRPr lang="en-IN" i="0" dirty="0">
              <a:solidFill>
                <a:srgbClr val="000000"/>
              </a:solidFill>
              <a:effectLst/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919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1DD39-64E2-9CC6-7E02-3C69E641F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247679"/>
            <a:ext cx="10869248" cy="1687513"/>
          </a:xfrm>
        </p:spPr>
        <p:txBody>
          <a:bodyPr>
            <a:normAutofit/>
          </a:bodyPr>
          <a:lstStyle/>
          <a:p>
            <a:pPr algn="ctr" fontAlgn="base">
              <a:lnSpc>
                <a:spcPts val="1650"/>
              </a:lnSpc>
              <a:spcBef>
                <a:spcPts val="900"/>
              </a:spcBef>
            </a:pPr>
            <a:r>
              <a:rPr lang="en-IN" sz="4800" b="1" i="0" dirty="0">
                <a:solidFill>
                  <a:schemeClr val="bg2">
                    <a:lumMod val="9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  <a:br>
              <a:rPr lang="en-IN" sz="4800" b="1" i="0" dirty="0">
                <a:solidFill>
                  <a:schemeClr val="bg2">
                    <a:lumMod val="9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800" b="0" i="0" dirty="0">
                <a:solidFill>
                  <a:schemeClr val="bg2">
                    <a:lumMod val="9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b="0" i="0" dirty="0">
                <a:solidFill>
                  <a:schemeClr val="bg2">
                    <a:lumMod val="9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8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0EB49-A4A1-83D6-3219-C734B4986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Hyperparameter Tuning : </a:t>
            </a:r>
            <a:r>
              <a:rPr lang="en-US" dirty="0" err="1"/>
              <a:t>RandomizedSearchCV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F01C32-DC8A-473B-74F4-4A481B44B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249" y="3429000"/>
            <a:ext cx="7407152" cy="252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566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6000D-24AE-8930-42C4-34C054866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 </a:t>
            </a:r>
            <a:r>
              <a:rPr lang="en-IN" b="1" i="0" dirty="0">
                <a:solidFill>
                  <a:schemeClr val="bg2">
                    <a:lumMod val="9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Model</a:t>
            </a:r>
            <a:br>
              <a:rPr lang="en-IN" b="1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3D301-9488-E781-C940-CB2F1405F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Model:</a:t>
            </a:r>
            <a:r>
              <a:rPr lang="en-US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  Random Forest Regressor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Poppins" panose="00000500000000000000" pitchFamily="2" charset="0"/>
            </a:endParaRPr>
          </a:p>
          <a:p>
            <a:r>
              <a:rPr lang="en-US" b="1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Performance Metrics:</a:t>
            </a:r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</a:rPr>
              <a:t> </a:t>
            </a:r>
          </a:p>
          <a:p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</a:rPr>
              <a:t> R² Score: 0.89</a:t>
            </a:r>
          </a:p>
          <a:p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</a:rPr>
              <a:t> Mean Absolute Error: 0.10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993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E9B9-5CF2-C339-F5FA-64D016303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i="0" dirty="0">
                <a:solidFill>
                  <a:schemeClr val="bg2">
                    <a:lumMod val="9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</a:t>
            </a:r>
            <a:br>
              <a:rPr lang="en-IN" b="1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84588-DE21-CFAA-7D13-B4419FBB1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Frontend: </a:t>
            </a:r>
            <a:r>
              <a:rPr lang="en-IN" dirty="0">
                <a:solidFill>
                  <a:srgbClr val="000000"/>
                </a:solidFill>
                <a:latin typeface="Poppins" panose="00000500000000000000" pitchFamily="2" charset="0"/>
              </a:rPr>
              <a:t> HTML , CSS , Bootstrap </a:t>
            </a:r>
          </a:p>
          <a:p>
            <a:r>
              <a:rPr lang="en-IN" b="1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Backend : </a:t>
            </a:r>
            <a:r>
              <a:rPr lang="en-IN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Python </a:t>
            </a:r>
            <a:endParaRPr lang="en-IN" b="1" i="0" dirty="0">
              <a:solidFill>
                <a:srgbClr val="000000"/>
              </a:solidFill>
              <a:effectLst/>
              <a:latin typeface="Poppins" panose="00000500000000000000" pitchFamily="2" charset="0"/>
            </a:endParaRPr>
          </a:p>
          <a:p>
            <a:r>
              <a:rPr lang="en-IN" b="1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Deployment : </a:t>
            </a:r>
            <a:r>
              <a:rPr lang="en-IN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local host : 127.0.0.1:5000</a:t>
            </a:r>
            <a:endParaRPr lang="en-IN" dirty="0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056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FF8DE50-7A65-4407-ADF1-2CD17A9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F5B6F84-73EF-47ED-850E-4308B2C0D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98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89B7B-E5F1-9639-BA94-127310594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530910"/>
          </a:xfrm>
        </p:spPr>
        <p:txBody>
          <a:bodyPr>
            <a:normAutofit/>
          </a:bodyPr>
          <a:lstStyle/>
          <a:p>
            <a:r>
              <a:rPr lang="en-IN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87EDD-1F57-44F4-BA08-B84CF2DCC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837329"/>
            <a:ext cx="5331229" cy="3339634"/>
          </a:xfrm>
        </p:spPr>
        <p:txBody>
          <a:bodyPr>
            <a:normAutofit/>
          </a:bodyPr>
          <a:lstStyle/>
          <a:p>
            <a:r>
              <a:rPr lang="en-IN" b="1" i="0">
                <a:effectLst/>
                <a:latin typeface="Poppins" panose="00000500000000000000" pitchFamily="2" charset="0"/>
              </a:rPr>
              <a:t>Screenshots : </a:t>
            </a:r>
          </a:p>
          <a:p>
            <a:endParaRPr lang="en-IN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A70113B-0366-E0D7-E3B5-3560FCADA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85" r="2614" b="-1"/>
          <a:stretch/>
        </p:blipFill>
        <p:spPr>
          <a:xfrm>
            <a:off x="6095998" y="2279889"/>
            <a:ext cx="6095998" cy="45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48151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AnalogousFromRegularSeedLeftStep">
      <a:dk1>
        <a:srgbClr val="000000"/>
      </a:dk1>
      <a:lt1>
        <a:srgbClr val="FFFFFF"/>
      </a:lt1>
      <a:dk2>
        <a:srgbClr val="311C20"/>
      </a:dk2>
      <a:lt2>
        <a:srgbClr val="F0F1F3"/>
      </a:lt2>
      <a:accent1>
        <a:srgbClr val="CF972C"/>
      </a:accent1>
      <a:accent2>
        <a:srgbClr val="CE481E"/>
      </a:accent2>
      <a:accent3>
        <a:srgbClr val="E0304F"/>
      </a:accent3>
      <a:accent4>
        <a:srgbClr val="CE1E87"/>
      </a:accent4>
      <a:accent5>
        <a:srgbClr val="DE30E0"/>
      </a:accent5>
      <a:accent6>
        <a:srgbClr val="831ECE"/>
      </a:accent6>
      <a:hlink>
        <a:srgbClr val="436EC0"/>
      </a:hlink>
      <a:folHlink>
        <a:srgbClr val="7F7F7F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271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Avenir Next LT Pro</vt:lpstr>
      <vt:lpstr>Bahnschrift</vt:lpstr>
      <vt:lpstr>Poppins</vt:lpstr>
      <vt:lpstr>Times New Roman</vt:lpstr>
      <vt:lpstr>MatrixVTI</vt:lpstr>
      <vt:lpstr>Avocado Price Prediction using Machine Learning</vt:lpstr>
      <vt:lpstr> Introduction</vt:lpstr>
      <vt:lpstr> Data Overview</vt:lpstr>
      <vt:lpstr>Visualization</vt:lpstr>
      <vt:lpstr>Model Selection </vt:lpstr>
      <vt:lpstr>Model Training </vt:lpstr>
      <vt:lpstr>Hyperparameter Tuning    </vt:lpstr>
      <vt:lpstr> Best Model </vt:lpstr>
      <vt:lpstr>Web Application 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Srinivasan M</dc:creator>
  <cp:lastModifiedBy>Sai Srinivasan M</cp:lastModifiedBy>
  <cp:revision>3</cp:revision>
  <dcterms:created xsi:type="dcterms:W3CDTF">2024-11-10T06:37:20Z</dcterms:created>
  <dcterms:modified xsi:type="dcterms:W3CDTF">2024-11-10T16:05:10Z</dcterms:modified>
</cp:coreProperties>
</file>